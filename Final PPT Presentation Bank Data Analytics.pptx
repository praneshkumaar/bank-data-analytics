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68" r:id="rId3"/>
    <p:sldId id="258" r:id="rId4"/>
    <p:sldId id="259" r:id="rId5"/>
    <p:sldId id="261" r:id="rId6"/>
    <p:sldId id="265" r:id="rId7"/>
    <p:sldId id="264" r:id="rId8"/>
    <p:sldId id="263" r:id="rId9"/>
    <p:sldId id="266" r:id="rId10"/>
    <p:sldId id="262"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94061" autoAdjust="0"/>
  </p:normalViewPr>
  <p:slideViewPr>
    <p:cSldViewPr snapToGrid="0">
      <p:cViewPr varScale="1">
        <p:scale>
          <a:sx n="77" d="100"/>
          <a:sy n="77" d="100"/>
        </p:scale>
        <p:origin x="8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 GOPI" userId="affcee19a105cc5e" providerId="LiveId" clId="{F5101EF5-2A4F-411B-AC6E-283D8145F11D}"/>
    <pc:docChg chg="undo custSel addSld modSld">
      <pc:chgData name="D GOPI" userId="affcee19a105cc5e" providerId="LiveId" clId="{F5101EF5-2A4F-411B-AC6E-283D8145F11D}" dt="2025-09-26T05:53:20.443" v="277" actId="20577"/>
      <pc:docMkLst>
        <pc:docMk/>
      </pc:docMkLst>
      <pc:sldChg chg="addSp delSp modSp mod">
        <pc:chgData name="D GOPI" userId="affcee19a105cc5e" providerId="LiveId" clId="{F5101EF5-2A4F-411B-AC6E-283D8145F11D}" dt="2025-09-26T05:51:21.673" v="275"/>
        <pc:sldMkLst>
          <pc:docMk/>
          <pc:sldMk cId="2993538521" sldId="262"/>
        </pc:sldMkLst>
        <pc:spChg chg="add del mod">
          <ac:chgData name="D GOPI" userId="affcee19a105cc5e" providerId="LiveId" clId="{F5101EF5-2A4F-411B-AC6E-283D8145F11D}" dt="2025-09-26T05:48:38.078" v="207" actId="1035"/>
          <ac:spMkLst>
            <pc:docMk/>
            <pc:sldMk cId="2993538521" sldId="262"/>
            <ac:spMk id="3" creationId="{9C306D54-3712-BE75-03D5-25164AC29E63}"/>
          </ac:spMkLst>
        </pc:spChg>
        <pc:spChg chg="mod">
          <ac:chgData name="D GOPI" userId="affcee19a105cc5e" providerId="LiveId" clId="{F5101EF5-2A4F-411B-AC6E-283D8145F11D}" dt="2025-09-26T05:51:21.673" v="275"/>
          <ac:spMkLst>
            <pc:docMk/>
            <pc:sldMk cId="2993538521" sldId="262"/>
            <ac:spMk id="4" creationId="{EB2F944F-B5D7-C4F6-BF79-6F8CF546E59B}"/>
          </ac:spMkLst>
        </pc:spChg>
        <pc:spChg chg="del">
          <ac:chgData name="D GOPI" userId="affcee19a105cc5e" providerId="LiveId" clId="{F5101EF5-2A4F-411B-AC6E-283D8145F11D}" dt="2025-09-26T05:49:37.922" v="231" actId="478"/>
          <ac:spMkLst>
            <pc:docMk/>
            <pc:sldMk cId="2993538521" sldId="262"/>
            <ac:spMk id="6" creationId="{8B4FB068-12E4-41DC-81DD-60BB2C50ED22}"/>
          </ac:spMkLst>
        </pc:spChg>
        <pc:spChg chg="del mod">
          <ac:chgData name="D GOPI" userId="affcee19a105cc5e" providerId="LiveId" clId="{F5101EF5-2A4F-411B-AC6E-283D8145F11D}" dt="2025-09-26T05:49:45.965" v="243"/>
          <ac:spMkLst>
            <pc:docMk/>
            <pc:sldMk cId="2993538521" sldId="262"/>
            <ac:spMk id="7" creationId="{7169EB5C-404D-23F4-3E10-F9761A5653E0}"/>
          </ac:spMkLst>
        </pc:spChg>
      </pc:sldChg>
      <pc:sldChg chg="delSp modSp add mod">
        <pc:chgData name="D GOPI" userId="affcee19a105cc5e" providerId="LiveId" clId="{F5101EF5-2A4F-411B-AC6E-283D8145F11D}" dt="2025-09-26T05:53:20.443" v="277" actId="20577"/>
        <pc:sldMkLst>
          <pc:docMk/>
          <pc:sldMk cId="1093619787" sldId="268"/>
        </pc:sldMkLst>
        <pc:spChg chg="del mod">
          <ac:chgData name="D GOPI" userId="affcee19a105cc5e" providerId="LiveId" clId="{F5101EF5-2A4F-411B-AC6E-283D8145F11D}" dt="2025-09-26T05:43:14.827" v="38"/>
          <ac:spMkLst>
            <pc:docMk/>
            <pc:sldMk cId="1093619787" sldId="268"/>
            <ac:spMk id="15" creationId="{13F9118D-211A-882C-AC70-E9621A954F22}"/>
          </ac:spMkLst>
        </pc:spChg>
        <pc:spChg chg="mod">
          <ac:chgData name="D GOPI" userId="affcee19a105cc5e" providerId="LiveId" clId="{F5101EF5-2A4F-411B-AC6E-283D8145F11D}" dt="2025-09-26T05:53:20.443" v="277" actId="20577"/>
          <ac:spMkLst>
            <pc:docMk/>
            <pc:sldMk cId="1093619787" sldId="268"/>
            <ac:spMk id="16" creationId="{6D24BFEA-513B-71C1-6A30-D8AE11696DF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D75BF4-8AC9-4EE5-855F-74857ED2DA27}" type="datetimeFigureOut">
              <a:rPr lang="en-IN" smtClean="0"/>
              <a:t>22-10-2026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8CA7E-2A66-4BB5-8D1A-21E656240881}" type="slidenum">
              <a:rPr lang="en-IN" smtClean="0"/>
              <a:t>‹#›</a:t>
            </a:fld>
            <a:endParaRPr lang="en-IN"/>
          </a:p>
        </p:txBody>
      </p:sp>
    </p:spTree>
    <p:extLst>
      <p:ext uri="{BB962C8B-B14F-4D97-AF65-F5344CB8AC3E}">
        <p14:creationId xmlns:p14="http://schemas.microsoft.com/office/powerpoint/2010/main" val="733956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445E-3B04-FCE3-CE68-DBA5DA6B70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E44584-3560-4E4D-1C4A-C1FF3AD0D5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3522269-7FB6-15FE-19D9-463E9781539E}"/>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5" name="Footer Placeholder 4">
            <a:extLst>
              <a:ext uri="{FF2B5EF4-FFF2-40B4-BE49-F238E27FC236}">
                <a16:creationId xmlns:a16="http://schemas.microsoft.com/office/drawing/2014/main" id="{3959FE19-3445-6900-BF19-BE7484ABD2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B577A2-BD01-4A20-E32C-56AE07FC371D}"/>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2583452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B670-4766-27FA-FB61-4E77478622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7B7590-4937-45B0-1902-6AFE0F3253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1EF0CC-9E43-5698-D5AB-E1A75915A893}"/>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5" name="Footer Placeholder 4">
            <a:extLst>
              <a:ext uri="{FF2B5EF4-FFF2-40B4-BE49-F238E27FC236}">
                <a16:creationId xmlns:a16="http://schemas.microsoft.com/office/drawing/2014/main" id="{00E791E0-26BD-96D1-12D4-C94F13893D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59A655-85AA-225C-831B-E9EAAB4FB0B6}"/>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2659136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9594-147F-21B2-6D5A-78A1D2496D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9A078E-B78F-2701-E128-92004EC79B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03E27A-EB43-588E-F225-DF8A319701DC}"/>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5" name="Footer Placeholder 4">
            <a:extLst>
              <a:ext uri="{FF2B5EF4-FFF2-40B4-BE49-F238E27FC236}">
                <a16:creationId xmlns:a16="http://schemas.microsoft.com/office/drawing/2014/main" id="{B173BCC7-BFBF-E7A3-C301-073B92C023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37407D-BD79-9E0B-41E0-DD41228834C1}"/>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51197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8FA7C-8B72-602D-DBF2-CCC0C9887A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594F8F-2BAF-3EBE-AF82-231E677F10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A6F425-6F3A-3314-99CC-BF22059729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69AC17-69A2-8A30-C5C1-AACA301C4405}"/>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6" name="Footer Placeholder 5">
            <a:extLst>
              <a:ext uri="{FF2B5EF4-FFF2-40B4-BE49-F238E27FC236}">
                <a16:creationId xmlns:a16="http://schemas.microsoft.com/office/drawing/2014/main" id="{DDCFB5DE-4327-225F-DA94-6E870E1181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060046-CE5B-7EFD-6BB4-986E1F3BB540}"/>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2761171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78D9-CF6A-6EC3-06F1-3ADAF3B388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609CDA-B73E-22A6-5844-0B9E4B65AD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7E4B5F-ECAD-CE5C-1E5D-2FA54081FB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47C335-9386-9CBF-980F-30F739781F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0FCA7F-9045-3932-194A-68AC4FE427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0405732-B7B9-145E-5EA2-B48832034107}"/>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8" name="Footer Placeholder 7">
            <a:extLst>
              <a:ext uri="{FF2B5EF4-FFF2-40B4-BE49-F238E27FC236}">
                <a16:creationId xmlns:a16="http://schemas.microsoft.com/office/drawing/2014/main" id="{25E58523-3BF6-C2AA-6634-760B3FFDCCB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02C635-02D7-CA7A-319E-C85863904371}"/>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646382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9B6FB-B399-8F01-CF64-2F3EFC06C4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0B55EF-3529-767B-2AA4-2BC3D2582CEE}"/>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4" name="Footer Placeholder 3">
            <a:extLst>
              <a:ext uri="{FF2B5EF4-FFF2-40B4-BE49-F238E27FC236}">
                <a16:creationId xmlns:a16="http://schemas.microsoft.com/office/drawing/2014/main" id="{F329C0B8-85F1-A316-0FB0-6475DAC1D2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775A5D-7541-981D-339A-583087160EAB}"/>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2213415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EDC8E0-947E-681C-186F-FE77DB7580E8}"/>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3" name="Footer Placeholder 2">
            <a:extLst>
              <a:ext uri="{FF2B5EF4-FFF2-40B4-BE49-F238E27FC236}">
                <a16:creationId xmlns:a16="http://schemas.microsoft.com/office/drawing/2014/main" id="{C33646FE-EC87-5933-FFD7-188753E451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757C94-4021-3DDF-0DA6-7271393C0E4E}"/>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3300913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A467E-083F-723B-0FFB-F24C469D12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0586BF7-9DF5-E332-ACB5-DDE7AA84FB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BA0C26-99F1-696B-94CC-A5CBE9F920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E6A734-222B-6999-980E-7693F132CD74}"/>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6" name="Footer Placeholder 5">
            <a:extLst>
              <a:ext uri="{FF2B5EF4-FFF2-40B4-BE49-F238E27FC236}">
                <a16:creationId xmlns:a16="http://schemas.microsoft.com/office/drawing/2014/main" id="{F9766DC7-45E6-08D3-B240-4173755617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131E87-C69A-D192-142C-76DBD1B78DAC}"/>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1364157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9273F-3EEE-CC93-68C0-C1F7C68BBC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FF1B7F-7A14-2987-FCF7-36273371D8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02BF6B-9F33-3AF4-0DFC-5BE3B526F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CEE8B2-E14F-8E90-7A26-5ACD46E1919D}"/>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6" name="Footer Placeholder 5">
            <a:extLst>
              <a:ext uri="{FF2B5EF4-FFF2-40B4-BE49-F238E27FC236}">
                <a16:creationId xmlns:a16="http://schemas.microsoft.com/office/drawing/2014/main" id="{A9E20A66-1E59-CD1D-0506-B737BB50A9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6F6A17-798E-A291-4BB2-0929FC7AED46}"/>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3087159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1C70-E7BC-2160-CF23-9E0577FD3D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2858EB-69C9-8C4C-9480-E4DF043A3E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87952D-06BC-6321-A173-4A6E68BBE2BC}"/>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5" name="Footer Placeholder 4">
            <a:extLst>
              <a:ext uri="{FF2B5EF4-FFF2-40B4-BE49-F238E27FC236}">
                <a16:creationId xmlns:a16="http://schemas.microsoft.com/office/drawing/2014/main" id="{699E25EE-A9E2-6622-387D-73262B4C3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825FB7-7AE0-7AAC-DF18-3DA99CE5F252}"/>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537231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0F791F-3A6E-43C4-775D-4A26D0119B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022147-1E3B-1C6A-8608-DF0ED4AA0D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FB3A24-4A6E-EA81-4FCC-C6E8CCE8B45E}"/>
              </a:ext>
            </a:extLst>
          </p:cNvPr>
          <p:cNvSpPr>
            <a:spLocks noGrp="1"/>
          </p:cNvSpPr>
          <p:nvPr>
            <p:ph type="dt" sz="half" idx="10"/>
          </p:nvPr>
        </p:nvSpPr>
        <p:spPr/>
        <p:txBody>
          <a:bodyPr/>
          <a:lstStyle/>
          <a:p>
            <a:fld id="{B304CCC5-BF96-4C1B-9639-B12F7948D3C5}" type="datetimeFigureOut">
              <a:rPr lang="en-IN" smtClean="0"/>
              <a:t>22-10-2026</a:t>
            </a:fld>
            <a:endParaRPr lang="en-IN"/>
          </a:p>
        </p:txBody>
      </p:sp>
      <p:sp>
        <p:nvSpPr>
          <p:cNvPr id="5" name="Footer Placeholder 4">
            <a:extLst>
              <a:ext uri="{FF2B5EF4-FFF2-40B4-BE49-F238E27FC236}">
                <a16:creationId xmlns:a16="http://schemas.microsoft.com/office/drawing/2014/main" id="{0D20FCB0-122E-1812-1AFF-B1EA63D673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73D95-7508-3DCD-8065-904AD3FE86AE}"/>
              </a:ext>
            </a:extLst>
          </p:cNvPr>
          <p:cNvSpPr>
            <a:spLocks noGrp="1"/>
          </p:cNvSpPr>
          <p:nvPr>
            <p:ph type="sldNum" sz="quarter" idx="12"/>
          </p:nvPr>
        </p:nvSpPr>
        <p:spPr/>
        <p:txBody>
          <a:bodyPr/>
          <a:lstStyle/>
          <a:p>
            <a:fld id="{3D5B0F41-F918-44BB-87BD-98AC77EADE24}" type="slidenum">
              <a:rPr lang="en-IN" smtClean="0"/>
              <a:t>‹#›</a:t>
            </a:fld>
            <a:endParaRPr lang="en-IN"/>
          </a:p>
        </p:txBody>
      </p:sp>
    </p:spTree>
    <p:extLst>
      <p:ext uri="{BB962C8B-B14F-4D97-AF65-F5344CB8AC3E}">
        <p14:creationId xmlns:p14="http://schemas.microsoft.com/office/powerpoint/2010/main" val="883237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447CFA-5601-3AD3-2667-CA43E73AF9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3032D7-FF0D-CCEC-5091-BD8E9AB434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08E03B-2137-E754-299A-51241A1CB1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04CCC5-BF96-4C1B-9639-B12F7948D3C5}" type="datetimeFigureOut">
              <a:rPr lang="en-IN" smtClean="0"/>
              <a:t>22-10-2026</a:t>
            </a:fld>
            <a:endParaRPr lang="en-IN"/>
          </a:p>
        </p:txBody>
      </p:sp>
      <p:sp>
        <p:nvSpPr>
          <p:cNvPr id="5" name="Footer Placeholder 4">
            <a:extLst>
              <a:ext uri="{FF2B5EF4-FFF2-40B4-BE49-F238E27FC236}">
                <a16:creationId xmlns:a16="http://schemas.microsoft.com/office/drawing/2014/main" id="{1761B02D-D6AE-4C78-18E3-67345662D8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F9C3C93-9870-6D73-2A7B-4AD836B8C7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5B0F41-F918-44BB-87BD-98AC77EADE24}" type="slidenum">
              <a:rPr lang="en-IN" smtClean="0"/>
              <a:t>‹#›</a:t>
            </a:fld>
            <a:endParaRPr lang="en-IN"/>
          </a:p>
        </p:txBody>
      </p:sp>
    </p:spTree>
    <p:extLst>
      <p:ext uri="{BB962C8B-B14F-4D97-AF65-F5344CB8AC3E}">
        <p14:creationId xmlns:p14="http://schemas.microsoft.com/office/powerpoint/2010/main" val="219312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D525B319-8271-8804-36AA-852F51F6CBAE}"/>
              </a:ext>
            </a:extLst>
          </p:cNvPr>
          <p:cNvSpPr/>
          <p:nvPr/>
        </p:nvSpPr>
        <p:spPr>
          <a:xfrm rot="2613952">
            <a:off x="5147958" y="3997657"/>
            <a:ext cx="1535843" cy="478360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ACCF3B7F-9E1C-BBDD-BC77-AC76BF89D8D2}"/>
              </a:ext>
            </a:extLst>
          </p:cNvPr>
          <p:cNvSpPr/>
          <p:nvPr/>
        </p:nvSpPr>
        <p:spPr>
          <a:xfrm rot="2613952">
            <a:off x="2654249" y="-2740812"/>
            <a:ext cx="3303157" cy="12760739"/>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AAD9D024-8212-799D-2797-5D99FCFF61A2}"/>
              </a:ext>
            </a:extLst>
          </p:cNvPr>
          <p:cNvGrpSpPr/>
          <p:nvPr/>
        </p:nvGrpSpPr>
        <p:grpSpPr>
          <a:xfrm>
            <a:off x="6945302" y="-1898737"/>
            <a:ext cx="4701869" cy="8243656"/>
            <a:chOff x="9113293" y="-4013070"/>
            <a:chExt cx="4701869" cy="8243656"/>
          </a:xfrm>
          <a:blipFill>
            <a:blip r:embed="rId2"/>
            <a:stretch>
              <a:fillRect/>
            </a:stretch>
          </a:blipFill>
        </p:grpSpPr>
        <p:sp>
          <p:nvSpPr>
            <p:cNvPr id="4" name="Rectangle: Rounded Corners 3">
              <a:extLst>
                <a:ext uri="{FF2B5EF4-FFF2-40B4-BE49-F238E27FC236}">
                  <a16:creationId xmlns:a16="http://schemas.microsoft.com/office/drawing/2014/main" id="{BFF9FD65-0BA1-9841-09E5-D52DA975DBDE}"/>
                </a:ext>
              </a:extLst>
            </p:cNvPr>
            <p:cNvSpPr/>
            <p:nvPr/>
          </p:nvSpPr>
          <p:spPr>
            <a:xfrm rot="2613952">
              <a:off x="10808621" y="3149076"/>
              <a:ext cx="1028067" cy="108151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7393007E-E63E-9660-1C34-5EADAA907C90}"/>
                </a:ext>
              </a:extLst>
            </p:cNvPr>
            <p:cNvSpPr/>
            <p:nvPr/>
          </p:nvSpPr>
          <p:spPr>
            <a:xfrm rot="2613952">
              <a:off x="12291885" y="-3439424"/>
              <a:ext cx="1351097" cy="736490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A2611D56-8645-6F68-6C5B-73E0A281A4B8}"/>
                </a:ext>
              </a:extLst>
            </p:cNvPr>
            <p:cNvSpPr/>
            <p:nvPr/>
          </p:nvSpPr>
          <p:spPr>
            <a:xfrm rot="2613952">
              <a:off x="9951982" y="-4013070"/>
              <a:ext cx="2172600" cy="7345411"/>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2CB09EDF-F507-6575-61C1-DE125C52A42E}"/>
                </a:ext>
              </a:extLst>
            </p:cNvPr>
            <p:cNvSpPr/>
            <p:nvPr/>
          </p:nvSpPr>
          <p:spPr>
            <a:xfrm rot="2613952">
              <a:off x="12894887" y="-676616"/>
              <a:ext cx="920275" cy="450945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A6C9D943-1F5E-98E6-D575-E9085F1B0725}"/>
                </a:ext>
              </a:extLst>
            </p:cNvPr>
            <p:cNvSpPr/>
            <p:nvPr/>
          </p:nvSpPr>
          <p:spPr>
            <a:xfrm rot="2613952">
              <a:off x="9203141" y="2717948"/>
              <a:ext cx="1122938" cy="140478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B494DE6F-235F-C08B-6B6B-5630F40CEE0A}"/>
                </a:ext>
              </a:extLst>
            </p:cNvPr>
            <p:cNvSpPr/>
            <p:nvPr/>
          </p:nvSpPr>
          <p:spPr>
            <a:xfrm rot="2613952">
              <a:off x="9113293" y="-3019436"/>
              <a:ext cx="961081" cy="365294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 name="Rectangle: Rounded Corners 13">
            <a:extLst>
              <a:ext uri="{FF2B5EF4-FFF2-40B4-BE49-F238E27FC236}">
                <a16:creationId xmlns:a16="http://schemas.microsoft.com/office/drawing/2014/main" id="{962F47AF-95EE-019E-C1C9-1664C1103F55}"/>
              </a:ext>
            </a:extLst>
          </p:cNvPr>
          <p:cNvSpPr/>
          <p:nvPr/>
        </p:nvSpPr>
        <p:spPr>
          <a:xfrm rot="2613952">
            <a:off x="2711581" y="-1174003"/>
            <a:ext cx="1227271" cy="3542670"/>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97D691A5-907E-0EF1-0116-2EC21BB7F4E2}"/>
              </a:ext>
            </a:extLst>
          </p:cNvPr>
          <p:cNvSpPr txBox="1"/>
          <p:nvPr/>
        </p:nvSpPr>
        <p:spPr>
          <a:xfrm>
            <a:off x="1757752" y="154701"/>
            <a:ext cx="9405257" cy="1323439"/>
          </a:xfrm>
          <a:prstGeom prst="rect">
            <a:avLst/>
          </a:prstGeom>
          <a:noFill/>
        </p:spPr>
        <p:txBody>
          <a:bodyPr wrap="square" rtlCol="0">
            <a:spAutoFit/>
          </a:bodyPr>
          <a:lstStyle/>
          <a:p>
            <a:r>
              <a:rPr lang="en-US" sz="8000"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Bank Data </a:t>
            </a:r>
            <a:r>
              <a:rPr lang="en-US" sz="8000" dirty="0">
                <a:solidFill>
                  <a:schemeClr val="accent1">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Analytics</a:t>
            </a:r>
            <a:endParaRPr lang="en-IN" sz="8000" dirty="0">
              <a:solidFill>
                <a:schemeClr val="accent1">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95DC27E1-96B2-1255-FF97-0A88AC7CA93C}"/>
              </a:ext>
            </a:extLst>
          </p:cNvPr>
          <p:cNvSpPr txBox="1"/>
          <p:nvPr/>
        </p:nvSpPr>
        <p:spPr>
          <a:xfrm>
            <a:off x="528073" y="1884967"/>
            <a:ext cx="4701299" cy="3365024"/>
          </a:xfrm>
          <a:prstGeom prst="rect">
            <a:avLst/>
          </a:prstGeom>
          <a:noFill/>
        </p:spPr>
        <p:txBody>
          <a:bodyPr wrap="square" rtlCol="0">
            <a:spAutoFit/>
          </a:bodyPr>
          <a:lstStyle/>
          <a:p>
            <a:pPr>
              <a:lnSpc>
                <a:spcPct val="150000"/>
              </a:lnSpc>
            </a:pPr>
            <a:r>
              <a:rPr lang="en-IN"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DONE BY:</a:t>
            </a:r>
          </a:p>
          <a:p>
            <a:pPr>
              <a:lnSpc>
                <a:spcPct val="150000"/>
              </a:lnSpc>
            </a:pPr>
            <a:r>
              <a:rPr lang="en-IN"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Pranesh Kumaar V M</a:t>
            </a: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nSpc>
                <a:spcPct val="150000"/>
              </a:lnSpc>
            </a:pP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nSpc>
                <a:spcPct val="150000"/>
              </a:lnSpc>
            </a:pPr>
            <a:r>
              <a:rPr lang="en-IN"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TOOLS USED:</a:t>
            </a:r>
          </a:p>
          <a:p>
            <a:pPr marL="285750" indent="-285750">
              <a:lnSpc>
                <a:spcPct val="150000"/>
              </a:lnSpc>
              <a:buFont typeface="Arial" panose="020B0604020202020204" pitchFamily="34" charset="0"/>
              <a:buChar char="•"/>
            </a:pP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Excel</a:t>
            </a:r>
          </a:p>
          <a:p>
            <a:pPr marL="285750" indent="-285750">
              <a:lnSpc>
                <a:spcPct val="150000"/>
              </a:lnSpc>
              <a:buFont typeface="Arial" panose="020B0604020202020204" pitchFamily="34" charset="0"/>
              <a:buChar char="•"/>
            </a:pP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Tableau</a:t>
            </a:r>
          </a:p>
          <a:p>
            <a:pPr marL="285750" indent="-285750">
              <a:lnSpc>
                <a:spcPct val="150000"/>
              </a:lnSpc>
              <a:buFont typeface="Arial" panose="020B0604020202020204" pitchFamily="34" charset="0"/>
              <a:buChar char="•"/>
            </a:pP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Power BI</a:t>
            </a:r>
          </a:p>
          <a:p>
            <a:pPr marL="285750" indent="-285750">
              <a:lnSpc>
                <a:spcPct val="150000"/>
              </a:lnSpc>
              <a:buFont typeface="Arial" panose="020B0604020202020204" pitchFamily="34" charset="0"/>
              <a:buChar char="•"/>
            </a:pP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MySQL</a:t>
            </a:r>
          </a:p>
        </p:txBody>
      </p:sp>
    </p:spTree>
    <p:extLst>
      <p:ext uri="{BB962C8B-B14F-4D97-AF65-F5344CB8AC3E}">
        <p14:creationId xmlns:p14="http://schemas.microsoft.com/office/powerpoint/2010/main" val="4126012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26C74-F91A-987B-4FE0-D6B8580B0DA4}"/>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7A4C8181-2B8D-75A4-53D5-BADD49A4197A}"/>
              </a:ext>
            </a:extLst>
          </p:cNvPr>
          <p:cNvSpPr/>
          <p:nvPr/>
        </p:nvSpPr>
        <p:spPr>
          <a:xfrm rot="2613952">
            <a:off x="5147958" y="3997657"/>
            <a:ext cx="1535843" cy="478360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914E8B4B-9D66-D430-E2EC-6932B6820925}"/>
              </a:ext>
            </a:extLst>
          </p:cNvPr>
          <p:cNvSpPr/>
          <p:nvPr/>
        </p:nvSpPr>
        <p:spPr>
          <a:xfrm rot="2613952">
            <a:off x="2654249" y="-2740812"/>
            <a:ext cx="3303157" cy="12760739"/>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61A87483-D193-F4B6-D308-D9F7357D6325}"/>
              </a:ext>
            </a:extLst>
          </p:cNvPr>
          <p:cNvGrpSpPr/>
          <p:nvPr/>
        </p:nvGrpSpPr>
        <p:grpSpPr>
          <a:xfrm>
            <a:off x="6945302" y="-1898737"/>
            <a:ext cx="4701869" cy="8243656"/>
            <a:chOff x="9113293" y="-4013070"/>
            <a:chExt cx="4701869" cy="8243656"/>
          </a:xfrm>
          <a:blipFill>
            <a:blip r:embed="rId2"/>
            <a:stretch>
              <a:fillRect/>
            </a:stretch>
          </a:blipFill>
        </p:grpSpPr>
        <p:sp>
          <p:nvSpPr>
            <p:cNvPr id="4" name="Rectangle: Rounded Corners 3">
              <a:extLst>
                <a:ext uri="{FF2B5EF4-FFF2-40B4-BE49-F238E27FC236}">
                  <a16:creationId xmlns:a16="http://schemas.microsoft.com/office/drawing/2014/main" id="{58BDF317-64E2-28A8-0B7A-44ED586A05E6}"/>
                </a:ext>
              </a:extLst>
            </p:cNvPr>
            <p:cNvSpPr/>
            <p:nvPr/>
          </p:nvSpPr>
          <p:spPr>
            <a:xfrm rot="2613952">
              <a:off x="10808621" y="3149076"/>
              <a:ext cx="1028067" cy="108151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1B569F90-5732-187F-513C-561382C6BE91}"/>
                </a:ext>
              </a:extLst>
            </p:cNvPr>
            <p:cNvSpPr/>
            <p:nvPr/>
          </p:nvSpPr>
          <p:spPr>
            <a:xfrm rot="2613952">
              <a:off x="12291885" y="-3439424"/>
              <a:ext cx="1351097" cy="736490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F1CF5DCD-BBED-F517-005F-B9077A2C65D2}"/>
                </a:ext>
              </a:extLst>
            </p:cNvPr>
            <p:cNvSpPr/>
            <p:nvPr/>
          </p:nvSpPr>
          <p:spPr>
            <a:xfrm rot="2613952">
              <a:off x="9951982" y="-4013070"/>
              <a:ext cx="2172600" cy="7345411"/>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B6B82AB4-ED12-1710-6CE4-771EF440E205}"/>
                </a:ext>
              </a:extLst>
            </p:cNvPr>
            <p:cNvSpPr/>
            <p:nvPr/>
          </p:nvSpPr>
          <p:spPr>
            <a:xfrm rot="2613952">
              <a:off x="12894887" y="-676616"/>
              <a:ext cx="920275" cy="450945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CA07702F-708A-FA38-1CA9-96306EEE18DE}"/>
                </a:ext>
              </a:extLst>
            </p:cNvPr>
            <p:cNvSpPr/>
            <p:nvPr/>
          </p:nvSpPr>
          <p:spPr>
            <a:xfrm rot="2613952">
              <a:off x="9203141" y="2717948"/>
              <a:ext cx="1122938" cy="140478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5EC84EF3-37B3-491B-BB70-4DAB0BFD912F}"/>
                </a:ext>
              </a:extLst>
            </p:cNvPr>
            <p:cNvSpPr/>
            <p:nvPr/>
          </p:nvSpPr>
          <p:spPr>
            <a:xfrm rot="2613952">
              <a:off x="9113293" y="-3019436"/>
              <a:ext cx="961081" cy="365294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 name="Rectangle: Rounded Corners 13">
            <a:extLst>
              <a:ext uri="{FF2B5EF4-FFF2-40B4-BE49-F238E27FC236}">
                <a16:creationId xmlns:a16="http://schemas.microsoft.com/office/drawing/2014/main" id="{63C6B661-7E29-5556-39BA-E9E3C3C55E7D}"/>
              </a:ext>
            </a:extLst>
          </p:cNvPr>
          <p:cNvSpPr/>
          <p:nvPr/>
        </p:nvSpPr>
        <p:spPr>
          <a:xfrm rot="2613952">
            <a:off x="2711581" y="-1174003"/>
            <a:ext cx="1227271" cy="3542670"/>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6D24BFEA-513B-71C1-6A30-D8AE11696DFE}"/>
              </a:ext>
            </a:extLst>
          </p:cNvPr>
          <p:cNvSpPr txBox="1"/>
          <p:nvPr/>
        </p:nvSpPr>
        <p:spPr>
          <a:xfrm>
            <a:off x="728383" y="148987"/>
            <a:ext cx="4701299" cy="6689011"/>
          </a:xfrm>
          <a:prstGeom prst="rect">
            <a:avLst/>
          </a:prstGeom>
          <a:noFill/>
        </p:spPr>
        <p:txBody>
          <a:bodyPr wrap="square" rtlCol="0">
            <a:spAutoFit/>
          </a:bodyPr>
          <a:lstStyle/>
          <a:p>
            <a:pPr>
              <a:lnSpc>
                <a:spcPct val="150000"/>
              </a:lnSpc>
            </a:pPr>
            <a:r>
              <a:rPr lang="en-IN"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INTRODUCTION</a:t>
            </a:r>
          </a:p>
          <a:p>
            <a:pPr marL="285750" indent="-285750">
              <a:lnSpc>
                <a:spcPct val="15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Banks process huge volumes of loan applications every day.</a:t>
            </a:r>
          </a:p>
          <a:p>
            <a:pPr marL="285750" indent="-285750">
              <a:lnSpc>
                <a:spcPct val="15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Monitoring repayment, defaults, and customer trends is essential for stable growth.</a:t>
            </a:r>
          </a:p>
          <a:p>
            <a:pPr marL="285750" indent="-285750">
              <a:lnSpc>
                <a:spcPct val="15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Data analytics helps convert raw data into meaningful insights for decision making. </a:t>
            </a:r>
          </a:p>
          <a:p>
            <a:pPr>
              <a:lnSpc>
                <a:spcPct val="150000"/>
              </a:lnSpc>
            </a:pPr>
            <a:r>
              <a:rPr lang="en-IN"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PROBLEM STATEMENT</a:t>
            </a:r>
          </a:p>
          <a:p>
            <a:pPr marL="285750" indent="-285750">
              <a:lnSpc>
                <a:spcPct val="15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The bank’s data is large and scattered, making it hard to track key metrics.</a:t>
            </a:r>
          </a:p>
          <a:p>
            <a:pPr marL="285750" indent="-285750">
              <a:lnSpc>
                <a:spcPct val="15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Management needs clear insights on loan disbursement, repayment, and default risks.</a:t>
            </a:r>
          </a:p>
          <a:p>
            <a:pPr marL="285750" indent="-285750">
              <a:lnSpc>
                <a:spcPct val="15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Early identification of high-risk areas is required to improve recovery.</a:t>
            </a: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3619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87230-27AA-13EB-2108-3CBF3BC5521C}"/>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FF31EAAA-CEBA-48D9-5C93-A3C88002A1D1}"/>
              </a:ext>
            </a:extLst>
          </p:cNvPr>
          <p:cNvSpPr/>
          <p:nvPr/>
        </p:nvSpPr>
        <p:spPr>
          <a:xfrm rot="2613952">
            <a:off x="5147958" y="3997657"/>
            <a:ext cx="1535843" cy="478360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7A9B52C7-D839-575A-A84C-0D4B481DF704}"/>
              </a:ext>
            </a:extLst>
          </p:cNvPr>
          <p:cNvSpPr/>
          <p:nvPr/>
        </p:nvSpPr>
        <p:spPr>
          <a:xfrm rot="2613952">
            <a:off x="2654249" y="-2740812"/>
            <a:ext cx="3303157" cy="12760739"/>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8811A544-F97B-3BD3-73DA-161E74D95957}"/>
              </a:ext>
            </a:extLst>
          </p:cNvPr>
          <p:cNvGrpSpPr/>
          <p:nvPr/>
        </p:nvGrpSpPr>
        <p:grpSpPr>
          <a:xfrm>
            <a:off x="6945302" y="-1898737"/>
            <a:ext cx="4701869" cy="8243656"/>
            <a:chOff x="9113293" y="-4013070"/>
            <a:chExt cx="4701869" cy="8243656"/>
          </a:xfrm>
          <a:blipFill>
            <a:blip r:embed="rId2"/>
            <a:stretch>
              <a:fillRect/>
            </a:stretch>
          </a:blipFill>
        </p:grpSpPr>
        <p:sp>
          <p:nvSpPr>
            <p:cNvPr id="4" name="Rectangle: Rounded Corners 3">
              <a:extLst>
                <a:ext uri="{FF2B5EF4-FFF2-40B4-BE49-F238E27FC236}">
                  <a16:creationId xmlns:a16="http://schemas.microsoft.com/office/drawing/2014/main" id="{17B47382-D7B4-21BD-17A3-E3E87C255E75}"/>
                </a:ext>
              </a:extLst>
            </p:cNvPr>
            <p:cNvSpPr/>
            <p:nvPr/>
          </p:nvSpPr>
          <p:spPr>
            <a:xfrm rot="2613952">
              <a:off x="10808621" y="3149076"/>
              <a:ext cx="1028067" cy="108151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E4205A9F-4015-43A4-B09A-B3ED155059C0}"/>
                </a:ext>
              </a:extLst>
            </p:cNvPr>
            <p:cNvSpPr/>
            <p:nvPr/>
          </p:nvSpPr>
          <p:spPr>
            <a:xfrm rot="2613952">
              <a:off x="12291885" y="-3439424"/>
              <a:ext cx="1351097" cy="736490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643EDEC3-9B73-0D96-958F-D4A3FEAC5606}"/>
                </a:ext>
              </a:extLst>
            </p:cNvPr>
            <p:cNvSpPr/>
            <p:nvPr/>
          </p:nvSpPr>
          <p:spPr>
            <a:xfrm rot="2613952">
              <a:off x="9951982" y="-4013070"/>
              <a:ext cx="2172600" cy="7345411"/>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E3133847-8058-CACB-0C18-913FC34F4205}"/>
                </a:ext>
              </a:extLst>
            </p:cNvPr>
            <p:cNvSpPr/>
            <p:nvPr/>
          </p:nvSpPr>
          <p:spPr>
            <a:xfrm rot="2613952">
              <a:off x="12894887" y="-676616"/>
              <a:ext cx="920275" cy="450945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459B81B9-7A20-CC1D-A04B-61E4597FCFF7}"/>
                </a:ext>
              </a:extLst>
            </p:cNvPr>
            <p:cNvSpPr/>
            <p:nvPr/>
          </p:nvSpPr>
          <p:spPr>
            <a:xfrm rot="2613952">
              <a:off x="9203141" y="2717948"/>
              <a:ext cx="1122938" cy="140478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63DA3A70-538C-BBC4-3274-2FB90FD87A7B}"/>
                </a:ext>
              </a:extLst>
            </p:cNvPr>
            <p:cNvSpPr/>
            <p:nvPr/>
          </p:nvSpPr>
          <p:spPr>
            <a:xfrm rot="2613952">
              <a:off x="9113293" y="-3019436"/>
              <a:ext cx="961081" cy="365294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 name="Rectangle: Rounded Corners 13">
            <a:extLst>
              <a:ext uri="{FF2B5EF4-FFF2-40B4-BE49-F238E27FC236}">
                <a16:creationId xmlns:a16="http://schemas.microsoft.com/office/drawing/2014/main" id="{0ABA22BB-6966-5F74-0B87-B5A0638CC4F8}"/>
              </a:ext>
            </a:extLst>
          </p:cNvPr>
          <p:cNvSpPr/>
          <p:nvPr/>
        </p:nvSpPr>
        <p:spPr>
          <a:xfrm rot="2613952">
            <a:off x="2711581" y="-1174003"/>
            <a:ext cx="1227271" cy="3542670"/>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98888E1-C0C7-4251-85B4-F61EB661C224}"/>
              </a:ext>
            </a:extLst>
          </p:cNvPr>
          <p:cNvSpPr txBox="1"/>
          <p:nvPr/>
        </p:nvSpPr>
        <p:spPr>
          <a:xfrm>
            <a:off x="986613" y="691733"/>
            <a:ext cx="4665300" cy="5627181"/>
          </a:xfrm>
          <a:prstGeom prst="rect">
            <a:avLst/>
          </a:prstGeom>
          <a:noFill/>
        </p:spPr>
        <p:txBody>
          <a:bodyPr wrap="square" rtlCol="0">
            <a:spAutoFit/>
          </a:bodyPr>
          <a:lstStyle/>
          <a:p>
            <a:pPr>
              <a:lnSpc>
                <a:spcPct val="150000"/>
              </a:lnSpc>
            </a:pPr>
            <a:r>
              <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AIM:</a:t>
            </a: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To analyse bank loan data and identify key financial and customer trends.</a:t>
            </a:r>
          </a:p>
          <a:p>
            <a:pPr>
              <a:lnSpc>
                <a:spcPct val="150000"/>
              </a:lnSpc>
            </a:pP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nSpc>
                <a:spcPct val="150000"/>
              </a:lnSpc>
            </a:pPr>
            <a:r>
              <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SCOPE:</a:t>
            </a: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Evaluate loan disbursement, collections, defaults and repayment patterns.</a:t>
            </a:r>
          </a:p>
          <a:p>
            <a:pPr>
              <a:lnSpc>
                <a:spcPct val="150000"/>
              </a:lnSpc>
            </a:pP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nSpc>
                <a:spcPct val="150000"/>
              </a:lnSpc>
            </a:pPr>
            <a:r>
              <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TOOLS:</a:t>
            </a: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Excel for quick KPIs, SQL for data extraction, Tableau &amp; Power BI for interactive dashboards.</a:t>
            </a:r>
          </a:p>
          <a:p>
            <a:pPr>
              <a:lnSpc>
                <a:spcPct val="150000"/>
              </a:lnSpc>
            </a:pP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nSpc>
                <a:spcPct val="150000"/>
              </a:lnSpc>
            </a:pPr>
            <a:r>
              <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GOAL:</a:t>
            </a:r>
            <a:r>
              <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Provide insights to improve loan recovery and decision making.</a:t>
            </a:r>
          </a:p>
        </p:txBody>
      </p:sp>
    </p:spTree>
    <p:extLst>
      <p:ext uri="{BB962C8B-B14F-4D97-AF65-F5344CB8AC3E}">
        <p14:creationId xmlns:p14="http://schemas.microsoft.com/office/powerpoint/2010/main" val="1622043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3D0CA-6056-F998-B0E0-453068D9D6A1}"/>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0B853622-0E04-F6D0-436D-03529B3D29E5}"/>
              </a:ext>
            </a:extLst>
          </p:cNvPr>
          <p:cNvSpPr/>
          <p:nvPr/>
        </p:nvSpPr>
        <p:spPr>
          <a:xfrm rot="2613952">
            <a:off x="5147958" y="3997657"/>
            <a:ext cx="1535843" cy="478360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5E83FFC3-3F6C-0D56-1C32-FE2608276958}"/>
              </a:ext>
            </a:extLst>
          </p:cNvPr>
          <p:cNvSpPr/>
          <p:nvPr/>
        </p:nvSpPr>
        <p:spPr>
          <a:xfrm rot="2613952">
            <a:off x="2654249" y="-2740812"/>
            <a:ext cx="3303157" cy="12760739"/>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9D1C41E8-B4FC-362B-D908-7B3F06FC09EA}"/>
              </a:ext>
            </a:extLst>
          </p:cNvPr>
          <p:cNvGrpSpPr/>
          <p:nvPr/>
        </p:nvGrpSpPr>
        <p:grpSpPr>
          <a:xfrm>
            <a:off x="6945302" y="-1898737"/>
            <a:ext cx="4701869" cy="8243656"/>
            <a:chOff x="9113293" y="-4013070"/>
            <a:chExt cx="4701869" cy="8243656"/>
          </a:xfrm>
          <a:blipFill>
            <a:blip r:embed="rId2"/>
            <a:stretch>
              <a:fillRect/>
            </a:stretch>
          </a:blipFill>
        </p:grpSpPr>
        <p:sp>
          <p:nvSpPr>
            <p:cNvPr id="4" name="Rectangle: Rounded Corners 3">
              <a:extLst>
                <a:ext uri="{FF2B5EF4-FFF2-40B4-BE49-F238E27FC236}">
                  <a16:creationId xmlns:a16="http://schemas.microsoft.com/office/drawing/2014/main" id="{2257D676-BCAF-E228-95B3-EA62B017775C}"/>
                </a:ext>
              </a:extLst>
            </p:cNvPr>
            <p:cNvSpPr/>
            <p:nvPr/>
          </p:nvSpPr>
          <p:spPr>
            <a:xfrm rot="2613952">
              <a:off x="10808621" y="3149076"/>
              <a:ext cx="1028067" cy="108151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59476D5C-1F2A-4BE6-F39D-6065A2561557}"/>
                </a:ext>
              </a:extLst>
            </p:cNvPr>
            <p:cNvSpPr/>
            <p:nvPr/>
          </p:nvSpPr>
          <p:spPr>
            <a:xfrm rot="2613952">
              <a:off x="12291885" y="-3439424"/>
              <a:ext cx="1351097" cy="736490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871154D9-0D53-CF24-D5D9-874D52D7A1D1}"/>
                </a:ext>
              </a:extLst>
            </p:cNvPr>
            <p:cNvSpPr/>
            <p:nvPr/>
          </p:nvSpPr>
          <p:spPr>
            <a:xfrm rot="2613952">
              <a:off x="9951982" y="-4013070"/>
              <a:ext cx="2172600" cy="7345411"/>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494F61A5-93B5-65CD-2667-54425D75D39C}"/>
                </a:ext>
              </a:extLst>
            </p:cNvPr>
            <p:cNvSpPr/>
            <p:nvPr/>
          </p:nvSpPr>
          <p:spPr>
            <a:xfrm rot="2613952">
              <a:off x="12894887" y="-676616"/>
              <a:ext cx="920275" cy="450945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87EC7DBD-8F8F-642E-5BC4-A04413E619C1}"/>
                </a:ext>
              </a:extLst>
            </p:cNvPr>
            <p:cNvSpPr/>
            <p:nvPr/>
          </p:nvSpPr>
          <p:spPr>
            <a:xfrm rot="2613952">
              <a:off x="9203141" y="2717948"/>
              <a:ext cx="1122938" cy="1404780"/>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5D34276B-8BB2-E2AD-4996-C02AB19DACE1}"/>
                </a:ext>
              </a:extLst>
            </p:cNvPr>
            <p:cNvSpPr/>
            <p:nvPr/>
          </p:nvSpPr>
          <p:spPr>
            <a:xfrm rot="2613952">
              <a:off x="9113293" y="-3019436"/>
              <a:ext cx="961081" cy="3652948"/>
            </a:xfrm>
            <a:prstGeom prst="roundRect">
              <a:avLst>
                <a:gd name="adj" fmla="val 50000"/>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 name="Rectangle: Rounded Corners 13">
            <a:extLst>
              <a:ext uri="{FF2B5EF4-FFF2-40B4-BE49-F238E27FC236}">
                <a16:creationId xmlns:a16="http://schemas.microsoft.com/office/drawing/2014/main" id="{E1794B53-68BF-AEAE-8038-7633FF3C84AE}"/>
              </a:ext>
            </a:extLst>
          </p:cNvPr>
          <p:cNvSpPr/>
          <p:nvPr/>
        </p:nvSpPr>
        <p:spPr>
          <a:xfrm rot="2613952">
            <a:off x="2711581" y="-1174003"/>
            <a:ext cx="1227271" cy="3542670"/>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E98B3482-4EA6-FB8E-7FAB-6C9D0E9230A7}"/>
              </a:ext>
            </a:extLst>
          </p:cNvPr>
          <p:cNvSpPr txBox="1"/>
          <p:nvPr/>
        </p:nvSpPr>
        <p:spPr>
          <a:xfrm>
            <a:off x="886692" y="847336"/>
            <a:ext cx="4665300" cy="313932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Total Loan Applications – 38.3 K</a:t>
            </a:r>
          </a:p>
          <a:p>
            <a:pPr marL="285750" indent="-285750">
              <a:buFont typeface="Arial" panose="020B0604020202020204" pitchFamily="34" charset="0"/>
              <a:buChar char="•"/>
            </a:pPr>
            <a:endPar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Total Funded Amount – ₹430.6 M</a:t>
            </a:r>
          </a:p>
          <a:p>
            <a:pPr marL="285750" indent="-285750">
              <a:buFont typeface="Arial" panose="020B0604020202020204" pitchFamily="34" charset="0"/>
              <a:buChar char="•"/>
            </a:pPr>
            <a:endPar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Total Collection – ₹815 M</a:t>
            </a:r>
          </a:p>
          <a:p>
            <a:pPr marL="285750" indent="-285750">
              <a:buFont typeface="Arial" panose="020B0604020202020204" pitchFamily="34" charset="0"/>
              <a:buChar char="•"/>
            </a:pPr>
            <a:endPar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Average Interest Rate – 12 %</a:t>
            </a:r>
          </a:p>
          <a:p>
            <a:pPr marL="285750" indent="-285750">
              <a:buFont typeface="Arial" panose="020B0604020202020204" pitchFamily="34" charset="0"/>
              <a:buChar char="•"/>
            </a:pPr>
            <a:endPar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Default Rate – 1 %</a:t>
            </a:r>
          </a:p>
          <a:p>
            <a:pPr marL="285750" indent="-285750">
              <a:buFont typeface="Arial" panose="020B0604020202020204" pitchFamily="34" charset="0"/>
              <a:buChar char="•"/>
            </a:pPr>
            <a:endPar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Good Loan Issued – 74.5 %</a:t>
            </a: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DA79B9E8-7A31-0D3B-AE2D-9200833FC5A7}"/>
              </a:ext>
            </a:extLst>
          </p:cNvPr>
          <p:cNvSpPr txBox="1"/>
          <p:nvPr/>
        </p:nvSpPr>
        <p:spPr>
          <a:xfrm>
            <a:off x="619817" y="315416"/>
            <a:ext cx="4863448" cy="677108"/>
          </a:xfrm>
          <a:prstGeom prst="rect">
            <a:avLst/>
          </a:prstGeom>
          <a:noFill/>
        </p:spPr>
        <p:txBody>
          <a:bodyPr wrap="square" rtlCol="0">
            <a:spAutoFit/>
          </a:bodyPr>
          <a:lstStyle/>
          <a:p>
            <a:r>
              <a:rPr lang="en-US"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KEY PERFORMANCE INDICATORS</a:t>
            </a:r>
          </a:p>
          <a:p>
            <a:endParaRPr lang="en-IN" dirty="0"/>
          </a:p>
        </p:txBody>
      </p:sp>
      <p:sp>
        <p:nvSpPr>
          <p:cNvPr id="3" name="TextBox 2">
            <a:extLst>
              <a:ext uri="{FF2B5EF4-FFF2-40B4-BE49-F238E27FC236}">
                <a16:creationId xmlns:a16="http://schemas.microsoft.com/office/drawing/2014/main" id="{3305FBAD-1C80-A1A5-8B78-6FCCF1554E16}"/>
              </a:ext>
            </a:extLst>
          </p:cNvPr>
          <p:cNvSpPr txBox="1"/>
          <p:nvPr/>
        </p:nvSpPr>
        <p:spPr>
          <a:xfrm>
            <a:off x="619817" y="4111807"/>
            <a:ext cx="4932175" cy="400110"/>
          </a:xfrm>
          <a:prstGeom prst="rect">
            <a:avLst/>
          </a:prstGeom>
          <a:noFill/>
        </p:spPr>
        <p:txBody>
          <a:bodyPr wrap="square" rtlCol="0">
            <a:spAutoFit/>
          </a:bodyPr>
          <a:lstStyle/>
          <a:p>
            <a:r>
              <a:rPr lang="en-IN" sz="2000" b="1" u="sng" dirty="0">
                <a:solidFill>
                  <a:schemeClr val="accent1">
                    <a:lumMod val="50000"/>
                  </a:schemeClr>
                </a:solidFill>
                <a:effectLst>
                  <a:outerShdw blurRad="38100" dist="38100" dir="2700000" algn="tl">
                    <a:srgbClr val="000000">
                      <a:alpha val="43137"/>
                    </a:srgbClr>
                  </a:outerShdw>
                </a:effectLst>
              </a:rPr>
              <a:t>INSIGHTS</a:t>
            </a:r>
          </a:p>
        </p:txBody>
      </p:sp>
      <p:sp>
        <p:nvSpPr>
          <p:cNvPr id="15" name="TextBox 14">
            <a:extLst>
              <a:ext uri="{FF2B5EF4-FFF2-40B4-BE49-F238E27FC236}">
                <a16:creationId xmlns:a16="http://schemas.microsoft.com/office/drawing/2014/main" id="{8F027B43-10BC-15CD-C097-4536D2D84BAA}"/>
              </a:ext>
            </a:extLst>
          </p:cNvPr>
          <p:cNvSpPr txBox="1"/>
          <p:nvPr/>
        </p:nvSpPr>
        <p:spPr>
          <a:xfrm>
            <a:off x="983951" y="4426246"/>
            <a:ext cx="4909593" cy="21298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rPr>
              <a:t>Collections exceed total funded amount, indicating strong recovery. </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rPr>
              <a:t>Default rate is very low across all states.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rPr>
              <a:t>30–40 age group and Home Loan purpose show highest funded amount.</a:t>
            </a:r>
            <a:endParaRPr lang="en-IN"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00100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000E-83FF-9EEF-D0F7-0A1092A42F7C}"/>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5C8C06BB-2E14-7A20-3BC7-3AE88FD55D79}"/>
              </a:ext>
            </a:extLst>
          </p:cNvPr>
          <p:cNvSpPr/>
          <p:nvPr/>
        </p:nvSpPr>
        <p:spPr>
          <a:xfrm rot="2613952">
            <a:off x="7564518" y="2229463"/>
            <a:ext cx="1515810" cy="641783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B18B7437-C3AC-A3D7-D170-40D538EA102F}"/>
              </a:ext>
            </a:extLst>
          </p:cNvPr>
          <p:cNvSpPr/>
          <p:nvPr/>
        </p:nvSpPr>
        <p:spPr>
          <a:xfrm rot="2613952">
            <a:off x="4504309" y="-3655552"/>
            <a:ext cx="3654760" cy="14169102"/>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141CBF0D-E763-981F-12BD-940F2E08384D}"/>
              </a:ext>
            </a:extLst>
          </p:cNvPr>
          <p:cNvSpPr/>
          <p:nvPr/>
        </p:nvSpPr>
        <p:spPr>
          <a:xfrm rot="2613952">
            <a:off x="3203932" y="-1743820"/>
            <a:ext cx="1746689" cy="6330335"/>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8929FAF1-9699-81F1-E571-5FA04A9EBD21}"/>
              </a:ext>
            </a:extLst>
          </p:cNvPr>
          <p:cNvSpPr/>
          <p:nvPr/>
        </p:nvSpPr>
        <p:spPr>
          <a:xfrm rot="2613952">
            <a:off x="9919427" y="3324295"/>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56B0302E-1197-F833-F722-56AE214A5DA4}"/>
              </a:ext>
            </a:extLst>
          </p:cNvPr>
          <p:cNvSpPr/>
          <p:nvPr/>
        </p:nvSpPr>
        <p:spPr>
          <a:xfrm rot="2613952">
            <a:off x="-532422" y="-1477858"/>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3CD8C0DB-54BD-F4B7-801F-5EF95280ADAC}"/>
              </a:ext>
            </a:extLst>
          </p:cNvPr>
          <p:cNvSpPr txBox="1"/>
          <p:nvPr/>
        </p:nvSpPr>
        <p:spPr>
          <a:xfrm>
            <a:off x="776182" y="51184"/>
            <a:ext cx="10612582" cy="400110"/>
          </a:xfrm>
          <a:prstGeom prst="rect">
            <a:avLst/>
          </a:prstGeom>
          <a:noFill/>
        </p:spPr>
        <p:txBody>
          <a:bodyPr wrap="square" rtlCol="0">
            <a:spAutoFit/>
          </a:bodyPr>
          <a:lstStyle/>
          <a:p>
            <a:pPr algn="ctr"/>
            <a:r>
              <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EXCEL DASHBOARD</a:t>
            </a:r>
          </a:p>
        </p:txBody>
      </p:sp>
      <p:pic>
        <p:nvPicPr>
          <p:cNvPr id="20" name="Picture 19" descr="A screenshot of a computer&#10;&#10;AI-generated content may be incorrect.">
            <a:extLst>
              <a:ext uri="{FF2B5EF4-FFF2-40B4-BE49-F238E27FC236}">
                <a16:creationId xmlns:a16="http://schemas.microsoft.com/office/drawing/2014/main" id="{398512FE-08DB-C139-CC2C-6EC0504341E3}"/>
              </a:ext>
            </a:extLst>
          </p:cNvPr>
          <p:cNvPicPr>
            <a:picLocks noChangeAspect="1"/>
          </p:cNvPicPr>
          <p:nvPr/>
        </p:nvPicPr>
        <p:blipFill>
          <a:blip r:embed="rId2">
            <a:extLst>
              <a:ext uri="{28A0092B-C50C-407E-A947-70E740481C1C}">
                <a14:useLocalDpi xmlns:a14="http://schemas.microsoft.com/office/drawing/2010/main" val="0"/>
              </a:ext>
            </a:extLst>
          </a:blip>
          <a:srcRect l="2158" t="11089" r="8296" b="8581"/>
          <a:stretch>
            <a:fillRect/>
          </a:stretch>
        </p:blipFill>
        <p:spPr>
          <a:xfrm>
            <a:off x="5181600" y="637308"/>
            <a:ext cx="7010400" cy="6169507"/>
          </a:xfrm>
          <a:prstGeom prst="rect">
            <a:avLst/>
          </a:prstGeom>
        </p:spPr>
      </p:pic>
      <p:sp>
        <p:nvSpPr>
          <p:cNvPr id="21" name="TextBox 20">
            <a:extLst>
              <a:ext uri="{FF2B5EF4-FFF2-40B4-BE49-F238E27FC236}">
                <a16:creationId xmlns:a16="http://schemas.microsoft.com/office/drawing/2014/main" id="{BB958FCE-1944-E628-5C71-FCD140B23118}"/>
              </a:ext>
            </a:extLst>
          </p:cNvPr>
          <p:cNvSpPr txBox="1"/>
          <p:nvPr/>
        </p:nvSpPr>
        <p:spPr>
          <a:xfrm>
            <a:off x="221524" y="983251"/>
            <a:ext cx="4821382" cy="5823389"/>
          </a:xfrm>
          <a:prstGeom prst="rect">
            <a:avLst/>
          </a:prstGeom>
          <a:noFill/>
        </p:spPr>
        <p:txBody>
          <a:bodyPr wrap="square" rtlCol="0">
            <a:spAutoFit/>
          </a:bodyPr>
          <a:lstStyle/>
          <a:p>
            <a:r>
              <a:rPr lang="en-US" b="1" u="sng" dirty="0">
                <a:solidFill>
                  <a:schemeClr val="accent1">
                    <a:lumMod val="50000"/>
                  </a:schemeClr>
                </a:solidFill>
                <a:effectLst>
                  <a:outerShdw blurRad="38100" dist="38100" dir="2700000" algn="tl">
                    <a:srgbClr val="000000">
                      <a:alpha val="43137"/>
                    </a:srgbClr>
                  </a:outerShdw>
                </a:effectLst>
              </a:rPr>
              <a:t>HIGHLIGHTS</a:t>
            </a:r>
          </a:p>
          <a:p>
            <a:pPr marL="285750" indent="-285750">
              <a:lnSpc>
                <a:spcPct val="20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Total Funded: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₹751 M, Total Collection: ₹815 M, Default Rate: 1 %.</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Uttar Pradesh shows the highest loan disbursement and collection.</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57.12% of loans are Active, 25 % Fully Paid.</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February recorded the peak monthly disbursement (₹150 M).</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Mathura branch achieved highest collection with minimal default.</a:t>
            </a: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6017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1C940-74DE-0D4F-0309-3384F52E0634}"/>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857F5E18-0D92-8209-B2BC-6AD7C8015689}"/>
              </a:ext>
            </a:extLst>
          </p:cNvPr>
          <p:cNvSpPr/>
          <p:nvPr/>
        </p:nvSpPr>
        <p:spPr>
          <a:xfrm rot="2613952">
            <a:off x="7564518" y="2229463"/>
            <a:ext cx="1515810" cy="641783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59EFB2B3-FE6F-4451-06A0-0477433E49ED}"/>
              </a:ext>
            </a:extLst>
          </p:cNvPr>
          <p:cNvSpPr/>
          <p:nvPr/>
        </p:nvSpPr>
        <p:spPr>
          <a:xfrm rot="2613952">
            <a:off x="4504309" y="-3655552"/>
            <a:ext cx="3654760" cy="14169102"/>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CD093D4E-D77A-8A8A-1F57-BA273756F028}"/>
              </a:ext>
            </a:extLst>
          </p:cNvPr>
          <p:cNvSpPr/>
          <p:nvPr/>
        </p:nvSpPr>
        <p:spPr>
          <a:xfrm rot="2613952">
            <a:off x="3096945" y="-1680746"/>
            <a:ext cx="1746689" cy="6330335"/>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02AB5EE2-AF4A-4B86-02F9-1BB593E62CA1}"/>
              </a:ext>
            </a:extLst>
          </p:cNvPr>
          <p:cNvSpPr/>
          <p:nvPr/>
        </p:nvSpPr>
        <p:spPr>
          <a:xfrm rot="2613952">
            <a:off x="9919427" y="3324295"/>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46FE7A0-7A61-2B41-0A33-CF2C5189B2CE}"/>
              </a:ext>
            </a:extLst>
          </p:cNvPr>
          <p:cNvSpPr/>
          <p:nvPr/>
        </p:nvSpPr>
        <p:spPr>
          <a:xfrm rot="2613952">
            <a:off x="-532422" y="-1477858"/>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3E7591C1-DE8E-2DA1-281A-4EB7B79EA5D4}"/>
              </a:ext>
            </a:extLst>
          </p:cNvPr>
          <p:cNvSpPr txBox="1"/>
          <p:nvPr/>
        </p:nvSpPr>
        <p:spPr>
          <a:xfrm>
            <a:off x="845127" y="193964"/>
            <a:ext cx="10404764" cy="400110"/>
          </a:xfrm>
          <a:prstGeom prst="rect">
            <a:avLst/>
          </a:prstGeom>
          <a:noFill/>
        </p:spPr>
        <p:txBody>
          <a:bodyPr wrap="square" rtlCol="0">
            <a:spAutoFit/>
          </a:bodyPr>
          <a:lstStyle/>
          <a:p>
            <a:pPr algn="ctr"/>
            <a:r>
              <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TABLEAU DASHBOARD</a:t>
            </a:r>
          </a:p>
        </p:txBody>
      </p:sp>
      <p:pic>
        <p:nvPicPr>
          <p:cNvPr id="4" name="Picture 3" descr="A close-up of several charts&#10;&#10;AI-generated content may be incorrect.">
            <a:extLst>
              <a:ext uri="{FF2B5EF4-FFF2-40B4-BE49-F238E27FC236}">
                <a16:creationId xmlns:a16="http://schemas.microsoft.com/office/drawing/2014/main" id="{1B2F9E8E-6ABC-9166-AE2B-A26A7FE19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5076" y="694149"/>
            <a:ext cx="6986924" cy="6081570"/>
          </a:xfrm>
          <a:prstGeom prst="rect">
            <a:avLst/>
          </a:prstGeom>
        </p:spPr>
      </p:pic>
      <p:sp>
        <p:nvSpPr>
          <p:cNvPr id="5" name="TextBox 4">
            <a:extLst>
              <a:ext uri="{FF2B5EF4-FFF2-40B4-BE49-F238E27FC236}">
                <a16:creationId xmlns:a16="http://schemas.microsoft.com/office/drawing/2014/main" id="{6C1F9297-A989-93E8-190A-21D36D4CB735}"/>
              </a:ext>
            </a:extLst>
          </p:cNvPr>
          <p:cNvSpPr txBox="1"/>
          <p:nvPr/>
        </p:nvSpPr>
        <p:spPr>
          <a:xfrm>
            <a:off x="619545" y="1124814"/>
            <a:ext cx="4585531" cy="4992392"/>
          </a:xfrm>
          <a:prstGeom prst="rect">
            <a:avLst/>
          </a:prstGeom>
          <a:noFill/>
        </p:spPr>
        <p:txBody>
          <a:bodyPr wrap="square" rtlCol="0">
            <a:spAutoFit/>
          </a:bodyPr>
          <a:lstStyle/>
          <a:p>
            <a:pPr>
              <a:lnSpc>
                <a:spcPct val="200000"/>
              </a:lnSpc>
            </a:pPr>
            <a:r>
              <a:rPr lang="en-US"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HIGHLIGHTS</a:t>
            </a:r>
            <a:endPar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Total Funded ₹733M | Collection ₹815M | Interest ₹155M</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Default Rate only 0.81% but 7,106 delinquent accounts</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Home Loan is top purpose – ₹278M</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Recovery Rate very low – 0.87% | Verified Loans 60.6%</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Highest Branch Default – 21.8% (Jorhat)</a:t>
            </a: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4277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B041D-4D90-64E4-0239-B063C0FE58B7}"/>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2980BE4D-99B9-37F4-1A88-0AF1A3DE6979}"/>
              </a:ext>
            </a:extLst>
          </p:cNvPr>
          <p:cNvSpPr/>
          <p:nvPr/>
        </p:nvSpPr>
        <p:spPr>
          <a:xfrm rot="2613952">
            <a:off x="7564518" y="2229463"/>
            <a:ext cx="1515810" cy="641783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85FB5F47-9D0D-8205-5305-3062FB415674}"/>
              </a:ext>
            </a:extLst>
          </p:cNvPr>
          <p:cNvSpPr/>
          <p:nvPr/>
        </p:nvSpPr>
        <p:spPr>
          <a:xfrm rot="2613952">
            <a:off x="4504309" y="-3655552"/>
            <a:ext cx="3654760" cy="14169102"/>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5B5D790F-4DAC-25F4-D9AD-5CC036A83AB1}"/>
              </a:ext>
            </a:extLst>
          </p:cNvPr>
          <p:cNvSpPr/>
          <p:nvPr/>
        </p:nvSpPr>
        <p:spPr>
          <a:xfrm rot="2613952">
            <a:off x="3203932" y="-1743820"/>
            <a:ext cx="1746689" cy="6330335"/>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84E72535-27B0-0019-9BA8-842451C289FE}"/>
              </a:ext>
            </a:extLst>
          </p:cNvPr>
          <p:cNvSpPr/>
          <p:nvPr/>
        </p:nvSpPr>
        <p:spPr>
          <a:xfrm rot="2613952">
            <a:off x="9919427" y="3324295"/>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8AF7133D-124F-943F-DB11-B20C97D4AD37}"/>
              </a:ext>
            </a:extLst>
          </p:cNvPr>
          <p:cNvSpPr/>
          <p:nvPr/>
        </p:nvSpPr>
        <p:spPr>
          <a:xfrm rot="2613952">
            <a:off x="-532422" y="-1477858"/>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8126D456-5A83-D6B1-4CC3-805214C6D681}"/>
              </a:ext>
            </a:extLst>
          </p:cNvPr>
          <p:cNvSpPr txBox="1"/>
          <p:nvPr/>
        </p:nvSpPr>
        <p:spPr>
          <a:xfrm>
            <a:off x="873164" y="118600"/>
            <a:ext cx="10515600" cy="400110"/>
          </a:xfrm>
          <a:prstGeom prst="rect">
            <a:avLst/>
          </a:prstGeom>
          <a:noFill/>
        </p:spPr>
        <p:txBody>
          <a:bodyPr wrap="square" rtlCol="0">
            <a:spAutoFit/>
          </a:bodyPr>
          <a:lstStyle/>
          <a:p>
            <a:pPr algn="ctr"/>
            <a:r>
              <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POWER BI DASHBOARD </a:t>
            </a:r>
          </a:p>
        </p:txBody>
      </p:sp>
      <p:pic>
        <p:nvPicPr>
          <p:cNvPr id="4" name="Picture 3" descr="A screenshot of a computer&#10;&#10;AI-generated content may be incorrect.">
            <a:extLst>
              <a:ext uri="{FF2B5EF4-FFF2-40B4-BE49-F238E27FC236}">
                <a16:creationId xmlns:a16="http://schemas.microsoft.com/office/drawing/2014/main" id="{E54ECDB6-67EF-4CAB-C43D-C1B3B6746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565" y="637309"/>
            <a:ext cx="6858000" cy="6115946"/>
          </a:xfrm>
          <a:prstGeom prst="rect">
            <a:avLst/>
          </a:prstGeom>
        </p:spPr>
      </p:pic>
      <p:sp>
        <p:nvSpPr>
          <p:cNvPr id="5" name="TextBox 4">
            <a:extLst>
              <a:ext uri="{FF2B5EF4-FFF2-40B4-BE49-F238E27FC236}">
                <a16:creationId xmlns:a16="http://schemas.microsoft.com/office/drawing/2014/main" id="{76083C48-34B7-E3B2-6E07-C10094D2209A}"/>
              </a:ext>
            </a:extLst>
          </p:cNvPr>
          <p:cNvSpPr txBox="1"/>
          <p:nvPr/>
        </p:nvSpPr>
        <p:spPr>
          <a:xfrm>
            <a:off x="448065" y="771316"/>
            <a:ext cx="4447309" cy="5315366"/>
          </a:xfrm>
          <a:prstGeom prst="rect">
            <a:avLst/>
          </a:prstGeom>
          <a:noFill/>
        </p:spPr>
        <p:txBody>
          <a:bodyPr wrap="square" rtlCol="0">
            <a:spAutoFit/>
          </a:bodyPr>
          <a:lstStyle/>
          <a:p>
            <a:r>
              <a:rPr lang="en-US"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HIGHLIGHTS</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Good Loans Issued: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74.5% of applications.</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Total Funded Amount: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$430.6M</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Loan Status Breakdown: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Active (prominent in metrics).</a:t>
            </a:r>
          </a:p>
          <a:p>
            <a:pPr marL="285750" indent="-285750">
              <a:lnSpc>
                <a:spcPct val="15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Peak Disbursement Month: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Insights in "Total Amount Received by Month" chart.</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Mathura-like Highlight: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No specific "Mathura" mention in given data; instead, "Top 10 Branch Loan Count" contributes significantly.</a:t>
            </a: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2821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40EC-6802-2FCC-5839-CDAAD266A3C0}"/>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52FE94F9-B4F5-9A35-645B-CC72F21F0575}"/>
              </a:ext>
            </a:extLst>
          </p:cNvPr>
          <p:cNvSpPr/>
          <p:nvPr/>
        </p:nvSpPr>
        <p:spPr>
          <a:xfrm rot="2613952">
            <a:off x="7564518" y="2229463"/>
            <a:ext cx="1515810" cy="641783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57913B1-C94B-CA4D-14A7-A37E39B3620D}"/>
              </a:ext>
            </a:extLst>
          </p:cNvPr>
          <p:cNvSpPr/>
          <p:nvPr/>
        </p:nvSpPr>
        <p:spPr>
          <a:xfrm rot="2613952">
            <a:off x="4504309" y="-3655552"/>
            <a:ext cx="3654760" cy="14169102"/>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CF396FCC-49D9-0735-D20B-CC1267946C0A}"/>
              </a:ext>
            </a:extLst>
          </p:cNvPr>
          <p:cNvSpPr/>
          <p:nvPr/>
        </p:nvSpPr>
        <p:spPr>
          <a:xfrm rot="2613952">
            <a:off x="3203932" y="-1743820"/>
            <a:ext cx="1746689" cy="6330335"/>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Rectangle: Rounded Corners 15">
            <a:extLst>
              <a:ext uri="{FF2B5EF4-FFF2-40B4-BE49-F238E27FC236}">
                <a16:creationId xmlns:a16="http://schemas.microsoft.com/office/drawing/2014/main" id="{607DB607-1C22-6B20-698D-5C62B836A2CA}"/>
              </a:ext>
            </a:extLst>
          </p:cNvPr>
          <p:cNvSpPr/>
          <p:nvPr/>
        </p:nvSpPr>
        <p:spPr>
          <a:xfrm rot="2613952">
            <a:off x="9919427" y="3324295"/>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967DF363-E43E-563C-08B7-9F8A916A1FEC}"/>
              </a:ext>
            </a:extLst>
          </p:cNvPr>
          <p:cNvSpPr/>
          <p:nvPr/>
        </p:nvSpPr>
        <p:spPr>
          <a:xfrm rot="2613952">
            <a:off x="-532422" y="-1477858"/>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43C10CCB-833D-D2CD-C525-3F7F656446DA}"/>
              </a:ext>
            </a:extLst>
          </p:cNvPr>
          <p:cNvPicPr>
            <a:picLocks noChangeAspect="1"/>
          </p:cNvPicPr>
          <p:nvPr/>
        </p:nvPicPr>
        <p:blipFill>
          <a:blip r:embed="rId2"/>
          <a:stretch>
            <a:fillRect/>
          </a:stretch>
        </p:blipFill>
        <p:spPr>
          <a:xfrm>
            <a:off x="109017" y="713815"/>
            <a:ext cx="2886075" cy="2198229"/>
          </a:xfrm>
          <a:prstGeom prst="rect">
            <a:avLst/>
          </a:prstGeom>
        </p:spPr>
      </p:pic>
      <p:pic>
        <p:nvPicPr>
          <p:cNvPr id="5" name="Picture 4">
            <a:extLst>
              <a:ext uri="{FF2B5EF4-FFF2-40B4-BE49-F238E27FC236}">
                <a16:creationId xmlns:a16="http://schemas.microsoft.com/office/drawing/2014/main" id="{53BFEB1C-F891-7FDD-2305-619E9286CC7D}"/>
              </a:ext>
            </a:extLst>
          </p:cNvPr>
          <p:cNvPicPr>
            <a:picLocks noChangeAspect="1"/>
          </p:cNvPicPr>
          <p:nvPr/>
        </p:nvPicPr>
        <p:blipFill>
          <a:blip r:embed="rId3"/>
          <a:stretch>
            <a:fillRect/>
          </a:stretch>
        </p:blipFill>
        <p:spPr>
          <a:xfrm>
            <a:off x="2966312" y="713815"/>
            <a:ext cx="2886074" cy="2198229"/>
          </a:xfrm>
          <a:prstGeom prst="rect">
            <a:avLst/>
          </a:prstGeom>
        </p:spPr>
      </p:pic>
      <p:pic>
        <p:nvPicPr>
          <p:cNvPr id="7" name="Picture 6">
            <a:extLst>
              <a:ext uri="{FF2B5EF4-FFF2-40B4-BE49-F238E27FC236}">
                <a16:creationId xmlns:a16="http://schemas.microsoft.com/office/drawing/2014/main" id="{3FDC5FE5-A20D-5EE5-B35D-A31BB0D759A7}"/>
              </a:ext>
            </a:extLst>
          </p:cNvPr>
          <p:cNvPicPr>
            <a:picLocks noChangeAspect="1"/>
          </p:cNvPicPr>
          <p:nvPr/>
        </p:nvPicPr>
        <p:blipFill>
          <a:blip r:embed="rId4"/>
          <a:stretch>
            <a:fillRect/>
          </a:stretch>
        </p:blipFill>
        <p:spPr>
          <a:xfrm>
            <a:off x="125013" y="2990046"/>
            <a:ext cx="5727373" cy="3749353"/>
          </a:xfrm>
          <a:prstGeom prst="rect">
            <a:avLst/>
          </a:prstGeom>
        </p:spPr>
      </p:pic>
      <p:sp>
        <p:nvSpPr>
          <p:cNvPr id="8" name="TextBox 7">
            <a:extLst>
              <a:ext uri="{FF2B5EF4-FFF2-40B4-BE49-F238E27FC236}">
                <a16:creationId xmlns:a16="http://schemas.microsoft.com/office/drawing/2014/main" id="{A3A3180A-6315-C06F-F5AD-E0B2FB9E539F}"/>
              </a:ext>
            </a:extLst>
          </p:cNvPr>
          <p:cNvSpPr txBox="1"/>
          <p:nvPr/>
        </p:nvSpPr>
        <p:spPr>
          <a:xfrm>
            <a:off x="365083" y="118600"/>
            <a:ext cx="11452287" cy="461665"/>
          </a:xfrm>
          <a:prstGeom prst="rect">
            <a:avLst/>
          </a:prstGeom>
          <a:noFill/>
        </p:spPr>
        <p:txBody>
          <a:bodyPr wrap="square" rtlCol="0">
            <a:spAutoFit/>
          </a:bodyPr>
          <a:lstStyle/>
          <a:p>
            <a:pPr algn="ctr"/>
            <a:r>
              <a:rPr lang="en-IN" sz="24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SQL QUERIES </a:t>
            </a:r>
          </a:p>
        </p:txBody>
      </p:sp>
      <p:pic>
        <p:nvPicPr>
          <p:cNvPr id="22" name="Picture 21">
            <a:extLst>
              <a:ext uri="{FF2B5EF4-FFF2-40B4-BE49-F238E27FC236}">
                <a16:creationId xmlns:a16="http://schemas.microsoft.com/office/drawing/2014/main" id="{05741E7D-E22B-462D-7918-DAB96276ED63}"/>
              </a:ext>
            </a:extLst>
          </p:cNvPr>
          <p:cNvPicPr>
            <a:picLocks noChangeAspect="1"/>
          </p:cNvPicPr>
          <p:nvPr/>
        </p:nvPicPr>
        <p:blipFill>
          <a:blip r:embed="rId5"/>
          <a:stretch>
            <a:fillRect/>
          </a:stretch>
        </p:blipFill>
        <p:spPr>
          <a:xfrm>
            <a:off x="6068448" y="3912724"/>
            <a:ext cx="5995815" cy="2826676"/>
          </a:xfrm>
          <a:prstGeom prst="rect">
            <a:avLst/>
          </a:prstGeom>
        </p:spPr>
      </p:pic>
      <p:pic>
        <p:nvPicPr>
          <p:cNvPr id="25" name="Picture 24">
            <a:extLst>
              <a:ext uri="{FF2B5EF4-FFF2-40B4-BE49-F238E27FC236}">
                <a16:creationId xmlns:a16="http://schemas.microsoft.com/office/drawing/2014/main" id="{2B064A67-0198-F07D-31DB-197330E54694}"/>
              </a:ext>
            </a:extLst>
          </p:cNvPr>
          <p:cNvPicPr>
            <a:picLocks noChangeAspect="1"/>
          </p:cNvPicPr>
          <p:nvPr/>
        </p:nvPicPr>
        <p:blipFill>
          <a:blip r:embed="rId6"/>
          <a:stretch>
            <a:fillRect/>
          </a:stretch>
        </p:blipFill>
        <p:spPr>
          <a:xfrm>
            <a:off x="6058953" y="713815"/>
            <a:ext cx="5995815" cy="3130687"/>
          </a:xfrm>
          <a:prstGeom prst="rect">
            <a:avLst/>
          </a:prstGeom>
        </p:spPr>
      </p:pic>
    </p:spTree>
    <p:extLst>
      <p:ext uri="{BB962C8B-B14F-4D97-AF65-F5344CB8AC3E}">
        <p14:creationId xmlns:p14="http://schemas.microsoft.com/office/powerpoint/2010/main" val="765258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B76A-CEAC-E778-0252-6EBD60A975EE}"/>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6C4B80F0-F1EC-7FE0-AECD-F4AE842068DF}"/>
              </a:ext>
            </a:extLst>
          </p:cNvPr>
          <p:cNvSpPr/>
          <p:nvPr/>
        </p:nvSpPr>
        <p:spPr>
          <a:xfrm rot="2613952">
            <a:off x="7564518" y="2229463"/>
            <a:ext cx="1515810" cy="641783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BFC8E922-E646-067A-5456-1F276E63A5C5}"/>
              </a:ext>
            </a:extLst>
          </p:cNvPr>
          <p:cNvSpPr/>
          <p:nvPr/>
        </p:nvSpPr>
        <p:spPr>
          <a:xfrm rot="2613952">
            <a:off x="4504309" y="-3655552"/>
            <a:ext cx="3654760" cy="14169102"/>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9F038752-13F8-E39E-8020-2B00486CB07F}"/>
              </a:ext>
            </a:extLst>
          </p:cNvPr>
          <p:cNvSpPr/>
          <p:nvPr/>
        </p:nvSpPr>
        <p:spPr>
          <a:xfrm rot="2613952">
            <a:off x="3203932" y="-1743820"/>
            <a:ext cx="1746689" cy="6330335"/>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Rectangle: Rounded Corners 15">
            <a:extLst>
              <a:ext uri="{FF2B5EF4-FFF2-40B4-BE49-F238E27FC236}">
                <a16:creationId xmlns:a16="http://schemas.microsoft.com/office/drawing/2014/main" id="{4AEC220C-4579-708C-E359-34615CD17FEA}"/>
              </a:ext>
            </a:extLst>
          </p:cNvPr>
          <p:cNvSpPr/>
          <p:nvPr/>
        </p:nvSpPr>
        <p:spPr>
          <a:xfrm rot="2613952">
            <a:off x="9919427" y="3324295"/>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4E0411B1-CE64-E7D3-1ABE-3EAF383D4215}"/>
              </a:ext>
            </a:extLst>
          </p:cNvPr>
          <p:cNvSpPr/>
          <p:nvPr/>
        </p:nvSpPr>
        <p:spPr>
          <a:xfrm rot="2613952">
            <a:off x="-532422" y="-1477858"/>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68BCD06-5190-E345-7311-9DB9A188B7EA}"/>
              </a:ext>
            </a:extLst>
          </p:cNvPr>
          <p:cNvSpPr txBox="1"/>
          <p:nvPr/>
        </p:nvSpPr>
        <p:spPr>
          <a:xfrm>
            <a:off x="365083" y="118600"/>
            <a:ext cx="11452287" cy="461665"/>
          </a:xfrm>
          <a:prstGeom prst="rect">
            <a:avLst/>
          </a:prstGeom>
          <a:noFill/>
        </p:spPr>
        <p:txBody>
          <a:bodyPr wrap="square" rtlCol="0">
            <a:spAutoFit/>
          </a:bodyPr>
          <a:lstStyle/>
          <a:p>
            <a:pPr algn="ctr"/>
            <a:r>
              <a:rPr lang="en-IN" sz="24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SQL QUERIES </a:t>
            </a:r>
          </a:p>
        </p:txBody>
      </p:sp>
      <p:sp>
        <p:nvSpPr>
          <p:cNvPr id="2" name="TextBox 1">
            <a:extLst>
              <a:ext uri="{FF2B5EF4-FFF2-40B4-BE49-F238E27FC236}">
                <a16:creationId xmlns:a16="http://schemas.microsoft.com/office/drawing/2014/main" id="{D185E2DB-F8CD-CABC-83E8-6ADDF8AEE9D0}"/>
              </a:ext>
            </a:extLst>
          </p:cNvPr>
          <p:cNvSpPr txBox="1"/>
          <p:nvPr/>
        </p:nvSpPr>
        <p:spPr>
          <a:xfrm>
            <a:off x="448065" y="771316"/>
            <a:ext cx="11452287" cy="4888518"/>
          </a:xfrm>
          <a:prstGeom prst="rect">
            <a:avLst/>
          </a:prstGeom>
          <a:noFill/>
        </p:spPr>
        <p:txBody>
          <a:bodyPr wrap="square" rtlCol="0">
            <a:spAutoFit/>
          </a:bodyPr>
          <a:lstStyle/>
          <a:p>
            <a:r>
              <a:rPr lang="en-US"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HIGHLIGHTS</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Strong Portfolio Health: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99.19% of loans are Good, with only 0.81% being Bad.</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Top Performing State: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Uttar Pradesh has the highest total loan amount, leading the states. </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Major Market: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Punjab is a close second in total loan amount. </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Significant Growth: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Loan disbursements increased significantly from 2016 to 2017.</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Bad Loan Categories: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Bad loans are defined as Default, Delinquent, Overdue, Charged Off, or NPA. </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Total Loan Count: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The bank has a total of 65,536 loans.</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Busiest Branch: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The Patiala branch has the highest number of loans.</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Zero Default Branches: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Patiala, Sangrur, and Jalandhar branches have a 0% default rate. </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Default Rate Calculation: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The default rate is calculated by dividing the number of Default loans by the total loans per branch.</a:t>
            </a:r>
          </a:p>
          <a:p>
            <a:pPr marL="285750" indent="-285750">
              <a:lnSpc>
                <a:spcPct val="150000"/>
              </a:lnSpc>
              <a:buFont typeface="Arial" panose="020B0604020202020204" pitchFamily="34" charset="0"/>
              <a:buChar char="•"/>
            </a:pPr>
            <a:r>
              <a:rPr lang="en-US"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Disbursement Trend: </a:t>
            </a: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The data tracks loan amounts disbursed each month to show growth trends.</a:t>
            </a:r>
          </a:p>
        </p:txBody>
      </p:sp>
    </p:spTree>
    <p:extLst>
      <p:ext uri="{BB962C8B-B14F-4D97-AF65-F5344CB8AC3E}">
        <p14:creationId xmlns:p14="http://schemas.microsoft.com/office/powerpoint/2010/main" val="367497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52E06-B449-D7BB-91B7-FECAB596CE8D}"/>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037AF52F-4056-366F-8D84-653182467C8D}"/>
              </a:ext>
            </a:extLst>
          </p:cNvPr>
          <p:cNvSpPr/>
          <p:nvPr/>
        </p:nvSpPr>
        <p:spPr>
          <a:xfrm rot="2613952">
            <a:off x="7564518" y="2229463"/>
            <a:ext cx="1515810" cy="641783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D86681B7-E90B-7779-0117-485F016E510D}"/>
              </a:ext>
            </a:extLst>
          </p:cNvPr>
          <p:cNvSpPr/>
          <p:nvPr/>
        </p:nvSpPr>
        <p:spPr>
          <a:xfrm rot="2613952">
            <a:off x="4504309" y="-3655552"/>
            <a:ext cx="3654760" cy="14169102"/>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401A905A-4F54-A986-1220-4C1AF8E2ACFD}"/>
              </a:ext>
            </a:extLst>
          </p:cNvPr>
          <p:cNvSpPr/>
          <p:nvPr/>
        </p:nvSpPr>
        <p:spPr>
          <a:xfrm rot="2613952">
            <a:off x="3203932" y="-1743820"/>
            <a:ext cx="1746689" cy="6330335"/>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0E64264F-6E30-C305-55A5-122BD80059E7}"/>
              </a:ext>
            </a:extLst>
          </p:cNvPr>
          <p:cNvSpPr/>
          <p:nvPr/>
        </p:nvSpPr>
        <p:spPr>
          <a:xfrm rot="2613952">
            <a:off x="9919427" y="3324295"/>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34EBECB7-12F5-EF13-7596-76138A7E83B7}"/>
              </a:ext>
            </a:extLst>
          </p:cNvPr>
          <p:cNvSpPr/>
          <p:nvPr/>
        </p:nvSpPr>
        <p:spPr>
          <a:xfrm rot="2613952">
            <a:off x="-532422" y="-1477858"/>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C306D54-3712-BE75-03D5-25164AC29E63}"/>
              </a:ext>
            </a:extLst>
          </p:cNvPr>
          <p:cNvSpPr txBox="1"/>
          <p:nvPr/>
        </p:nvSpPr>
        <p:spPr>
          <a:xfrm>
            <a:off x="782214" y="229618"/>
            <a:ext cx="11318842" cy="400110"/>
          </a:xfrm>
          <a:prstGeom prst="rect">
            <a:avLst/>
          </a:prstGeom>
          <a:noFill/>
        </p:spPr>
        <p:txBody>
          <a:bodyPr wrap="square" rtlCol="0">
            <a:spAutoFit/>
          </a:bodyPr>
          <a:lstStyle/>
          <a:p>
            <a:r>
              <a:rPr lang="en-US"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OVERALL FINDINGS</a:t>
            </a:r>
            <a:endParaRPr lang="en-IN" sz="2000"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B2F944F-B5D7-C4F6-BF79-6F8CF546E59B}"/>
              </a:ext>
            </a:extLst>
          </p:cNvPr>
          <p:cNvSpPr txBox="1"/>
          <p:nvPr/>
        </p:nvSpPr>
        <p:spPr>
          <a:xfrm>
            <a:off x="845127" y="573321"/>
            <a:ext cx="11221860" cy="7208384"/>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Strong collection with very low default rate.</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Northern states lead in both loan funding and repayment.</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30–40 age group and Home Loan category dominate funding</a:t>
            </a:r>
            <a:r>
              <a:rPr lang="en-US" dirty="0">
                <a:solidFill>
                  <a:schemeClr val="accent1">
                    <a:lumMod val="50000"/>
                  </a:schemeClr>
                </a:solidFill>
              </a:rPr>
              <a:t>.</a:t>
            </a:r>
          </a:p>
          <a:p>
            <a:pPr>
              <a:lnSpc>
                <a:spcPct val="200000"/>
              </a:lnSpc>
            </a:pPr>
            <a:r>
              <a:rPr lang="en-US"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KEY LEARNINGS</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Excel for KPI tracking and quick visuals.</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SQL for data cleaning and extraction.</a:t>
            </a:r>
          </a:p>
          <a:p>
            <a:pPr marL="285750" indent="-285750">
              <a:lnSpc>
                <a:spcPct val="200000"/>
              </a:lnSpc>
              <a:buFont typeface="Arial" panose="020B0604020202020204" pitchFamily="34" charset="0"/>
              <a:buChar char="•"/>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Tableau &amp; Power BI for advanced, interactive reporting.</a:t>
            </a:r>
          </a:p>
          <a:p>
            <a:pPr>
              <a:lnSpc>
                <a:spcPct val="200000"/>
              </a:lnSpc>
            </a:pPr>
            <a:r>
              <a:rPr lang="en-US"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CONCLUSION</a:t>
            </a:r>
          </a:p>
          <a:p>
            <a:pPr>
              <a:lnSpc>
                <a:spcPct val="200000"/>
              </a:lnSpc>
            </a:pPr>
            <a:r>
              <a:rPr lang="en-US"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The analysis shows strong collections and very low defaults.Northern states and Home Loans lead in funding and repayment.Using Excel, SQL, Tableau, and Power BI, we turned raw data into clear insights,helping the bank improve loan recovery and decision making.</a:t>
            </a:r>
            <a:endParaRPr lang="en-US"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nSpc>
                <a:spcPct val="200000"/>
              </a:lnSpc>
            </a:pPr>
            <a:endParaRPr lang="en-US" b="1" u="sng"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nSpc>
                <a:spcPct val="200000"/>
              </a:lnSpc>
            </a:pPr>
            <a:endParaRPr lang="en-IN"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3538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4747-65B7-F923-8B7E-0B6DB67E213A}"/>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9D4DD78A-8330-EDBA-FA6D-A2A2845F4F5E}"/>
              </a:ext>
            </a:extLst>
          </p:cNvPr>
          <p:cNvSpPr/>
          <p:nvPr/>
        </p:nvSpPr>
        <p:spPr>
          <a:xfrm rot="2613952">
            <a:off x="7564518" y="2229463"/>
            <a:ext cx="1515810" cy="6417833"/>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F4D717AA-7A65-9E43-84AF-488B5BFECD5A}"/>
              </a:ext>
            </a:extLst>
          </p:cNvPr>
          <p:cNvSpPr/>
          <p:nvPr/>
        </p:nvSpPr>
        <p:spPr>
          <a:xfrm rot="2613952">
            <a:off x="4504309" y="-3655552"/>
            <a:ext cx="3654760" cy="14169102"/>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9FE88BC6-3904-C745-1914-EB081C632035}"/>
              </a:ext>
            </a:extLst>
          </p:cNvPr>
          <p:cNvSpPr/>
          <p:nvPr/>
        </p:nvSpPr>
        <p:spPr>
          <a:xfrm rot="2613952">
            <a:off x="3203932" y="-1743820"/>
            <a:ext cx="1746689" cy="6330335"/>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C1E88ADE-7A15-6C08-9E55-A7D26DBFD9F7}"/>
              </a:ext>
            </a:extLst>
          </p:cNvPr>
          <p:cNvSpPr/>
          <p:nvPr/>
        </p:nvSpPr>
        <p:spPr>
          <a:xfrm rot="2613952">
            <a:off x="9919427" y="3324295"/>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B0DADEC9-2824-23D5-D246-7B7D9EC96050}"/>
              </a:ext>
            </a:extLst>
          </p:cNvPr>
          <p:cNvSpPr/>
          <p:nvPr/>
        </p:nvSpPr>
        <p:spPr>
          <a:xfrm rot="2613952">
            <a:off x="-532422" y="-1477858"/>
            <a:ext cx="2938674" cy="4926356"/>
          </a:xfrm>
          <a:prstGeom prst="roundRect">
            <a:avLst>
              <a:gd name="adj" fmla="val 50000"/>
            </a:avLst>
          </a:prstGeom>
          <a:solidFill>
            <a:schemeClr val="accent1">
              <a:lumMod val="20000"/>
              <a:lumOff val="80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158DA41-1BB7-0D58-8235-D79BAF060850}"/>
              </a:ext>
            </a:extLst>
          </p:cNvPr>
          <p:cNvSpPr txBox="1"/>
          <p:nvPr/>
        </p:nvSpPr>
        <p:spPr>
          <a:xfrm>
            <a:off x="436579" y="2877677"/>
            <a:ext cx="11318842" cy="1015663"/>
          </a:xfrm>
          <a:prstGeom prst="rect">
            <a:avLst/>
          </a:prstGeom>
          <a:noFill/>
        </p:spPr>
        <p:txBody>
          <a:bodyPr wrap="square" rtlCol="0">
            <a:spAutoFit/>
          </a:bodyPr>
          <a:lstStyle/>
          <a:p>
            <a:pPr algn="ctr"/>
            <a:r>
              <a:rPr lang="en-IN" sz="6000" b="1" dirty="0">
                <a:solidFill>
                  <a:schemeClr val="accent1">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671755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490</TotalTime>
  <Words>697</Words>
  <Application>Microsoft Office PowerPoint</Application>
  <PresentationFormat>Widescreen</PresentationFormat>
  <Paragraphs>85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nancy sahayaraj</dc:creator>
  <cp:lastModifiedBy>pranesh kumar</cp:lastModifiedBy>
  <cp:revision>8</cp:revision>
  <dcterms:created xsi:type="dcterms:W3CDTF">2025-09-20T09:44:36Z</dcterms:created>
  <dcterms:modified xsi:type="dcterms:W3CDTF">2026-10-22T16:59:39Z</dcterms:modified>
</cp:coreProperties>
</file>